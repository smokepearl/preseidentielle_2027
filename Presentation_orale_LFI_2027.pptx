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Calibri"/>
              </a:rPr>
              <a:t>PROJET FIL ROUGE — B3 DATA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Présidentielle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C4B5FD"/>
                </a:solidFill>
                <a:latin typeface="Calibri"/>
              </a:rPr>
              <a:t>Analyse électorale &amp; data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F4D6D"/>
                </a:solidFill>
                <a:latin typeface="Calibri"/>
              </a:rPr>
              <a:t>Mission pour La France Insoumise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AAAAC0"/>
                </a:solidFill>
                <a:latin typeface="Calibri"/>
              </a:rPr>
              <a:t>H. El Idrissi  &amp;  [Nom du binôme]
Soutenance orale —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Sommaire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1.  Contexte &amp; objectifs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2.  Les données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3.  Méthodologie du projet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4.  Préparation des données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5.  Analyse exploratoire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6.  Modélisation &amp; simulateur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7.  L'application interactive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8.  Résultats &amp; conclusions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9.  Organisation &amp; répartition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E1B36"/>
                </a:solidFill>
                <a:latin typeface="Calibri"/>
              </a:rPr>
              <a:t>•  10. Bilan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Contexte &amp; mission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55566"/>
                </a:solidFill>
                <a:latin typeface="Calibri"/>
              </a:rPr>
              <a:t>Sujet 1 : « Présidentielle 2027 — Analyse électorale et prédictions ». Mission freelance pour un cabinet de conseil politique, ici mandaté par La France Insoumise (LFI).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" cy="10058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E1B36"/>
                </a:solidFill>
                <a:latin typeface="Calibri"/>
              </a:rPr>
              <a:t>Problématique : Mélenchon (ou un candidat LFI) peut-il se qualifier au 2ᵉ tour de la présidentielle 2027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Analyser les présidentielles passées (2012, 2017, 2022)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Identifier les dynamiques régionales et socio-démographiques du vote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Construire un modèle / simulateur pour explorer des scénarios 2027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Livrer une application interactive de data storytelling (Streamlit)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Les données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55566"/>
                </a:solidFill>
                <a:latin typeface="Calibri"/>
              </a:rPr>
              <a:t>Sources officielles, organisées en données brutes puis nettoyées.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2286000"/>
                <a:gridCol w="201168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Scrutin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Présidentielle 2012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Ministère Intérieur / data.gouv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Régions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Analyse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Présidentielle 2017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Ministère Intérieur / data.gouv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Bureaux → régions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Analyse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Présidentielle 2022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Ministère Intérieur / data.gouv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Régions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Analyse + base modèle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Européennes 2024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Ministère Intérieur / data.gouv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Régions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Signal de mobilisation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2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Données sociales INSEE par région : taux de chômage + niveau de vie (croisées avec le vote)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Sociologie du vote : Ipsos / Sopra Steria (sortie des urnes 2022)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Sondages 2027 : Odoxa (mai 2026)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Fond de carte : GeoJSON des régions (france-geojson)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Méthodologie du projet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057400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Collecte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5DDFF"/>
                </a:solidFill>
                <a:latin typeface="Calibri"/>
              </a:rPr>
              <a:t>data.gouv, INSEE,
sondages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2194560"/>
            <a:ext cx="205740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Nettoyage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474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5DDFF"/>
                </a:solidFill>
                <a:latin typeface="Calibri"/>
              </a:rPr>
              <a:t>brut → clean,
standardisation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2194560"/>
            <a:ext cx="2057400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3474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5DDFF"/>
                </a:solidFill>
                <a:latin typeface="Calibri"/>
              </a:rPr>
              <a:t>exploration,
visualisations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2194560"/>
            <a:ext cx="205740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Modélisation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3474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5DDFF"/>
                </a:solidFill>
                <a:latin typeface="Calibri"/>
              </a:rPr>
              <a:t>régression,
scénarios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1472" y="2194560"/>
            <a:ext cx="2057400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3474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5DDFF"/>
                </a:solidFill>
                <a:latin typeface="Calibri"/>
              </a:rPr>
              <a:t>Streamlit,
storytelling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55566"/>
                </a:solidFill>
                <a:latin typeface="Calibri"/>
              </a:rPr>
              <a:t>Un pipeline data classique, du fichier brut jusqu'à l'application livrée. Chaque étape est documentée dans un notebook dédié et versionnée dans le projet.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Préparation des données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Organisation en deux dossiers : data_brut/ et data_clean/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Un notebook de construction par scrutin (2012, 2017, européennes 2024)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E1B36"/>
                </a:solidFill>
                <a:latin typeface="Calibri"/>
              </a:rPr>
              <a:t>•  Standardisation : mêmes colonnes pour comparer les années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10881360" cy="265176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109728" cy="26517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libri"/>
              </a:rPr>
              <a:t>Difficultés techniques traitées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E1B36"/>
                </a:solidFill>
                <a:latin typeface="Calibri"/>
              </a:rPr>
              <a:t>•  2012 : 22 anciennes régions → agrégation vers les 13 régions actuelles (réforme 2015)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E1B36"/>
                </a:solidFill>
                <a:latin typeface="Calibri"/>
              </a:rPr>
              <a:t>•  Format ministère « large » : 11-38 candidats/listes en colonnes → parsing par position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E1B36"/>
                </a:solidFill>
                <a:latin typeface="Calibri"/>
              </a:rPr>
              <a:t>•  Fichier mal nommé détecté : « 2017_bureaux » contenait en fait les données 2022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E1B36"/>
                </a:solidFill>
                <a:latin typeface="Calibri"/>
              </a:rPr>
              <a:t>•  Réseau de l'école (SSL) bloquant : fond de carte téléchargé puis stocké en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Analyse exploratoire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383280" cy="155448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4D6D"/>
                </a:solidFill>
                <a:latin typeface="Calibri"/>
              </a:rPr>
              <a:t>+10,9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66"/>
                </a:solidFill>
                <a:latin typeface="Calibri"/>
              </a:rPr>
              <a:t>progression de Mélenchon
2012 → 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383280" cy="155448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4D6D"/>
                </a:solidFill>
                <a:latin typeface="Calibri"/>
              </a:rPr>
              <a:t>3ᵉ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02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66"/>
                </a:solidFill>
                <a:latin typeface="Calibri"/>
              </a:rPr>
              <a:t>place en 2022, à 1,2 pt
du 2ᵉ tour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383280" cy="155448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46304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4D6D"/>
                </a:solidFill>
                <a:latin typeface="Calibri"/>
              </a:rPr>
              <a:t>54 %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402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66"/>
                </a:solidFill>
                <a:latin typeface="Calibri"/>
              </a:rPr>
              <a:t>de l'électorat LFI
a moins de 35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Progression continue dans toutes les régions, surtout en Île-de-France et Occitanie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Électorat jeune, urbain et populaire (fort chez les chômeurs : 30 %)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La participation recule (-5,8 pts entre 2012 et 2022) : un réservoir de voix abstentionnistes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Croisement INSEE : LFI plus fort dans les régions au niveau de vie élevé (r=0,70) = « effet métropole » (et non lié au chômage régional)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Modélisation &amp; simulateur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1E1B36"/>
                </a:solidFill>
                <a:latin typeface="Calibri"/>
              </a:rPr>
              <a:t>•  Régression linéaire sur la tendance 2012-2017-2022 (projection prudente)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1E1B36"/>
                </a:solidFill>
                <a:latin typeface="Calibri"/>
              </a:rPr>
              <a:t>•  Simulateur de scénarios : union à gauche, participation, mobilisation des jeunes, score du RN, type de candidat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1E1B36"/>
                </a:solidFill>
                <a:latin typeface="Calibri"/>
              </a:rPr>
              <a:t>•  Signal de mobilisation 2024 : l'écart présidentielle/européennes (~12 pts) calibre l'effet de la mobilisation, sans mélanger les types de scrutin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84048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4632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Scénario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Conditions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Score estimé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2ᵉ tour ?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Pessimiste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LFI seule, faible mobilisation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~18 %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Incertain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Réaliste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Union légère + mobilisation normale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~22-24 %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Probable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Optimiste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Union totale + forte mobilisation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~26-28 %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Très probable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L'application interactive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555566"/>
                </a:solidFill>
                <a:latin typeface="Calibri"/>
              </a:rPr>
              <a:t>Application Streamlit en récit guidé — 7 chapitres, design « dashboard » moderne.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🎯 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📈 L'ascension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🗺️ La carte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9202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9202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👥 Qui vote LFI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🇪🇺 Signal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8346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8346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🔮 Simuler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34640"/>
            <a:ext cx="256032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✅ Le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Carte interactive, filtres par année et indicateur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Simulateur 2027 avec paramètres modifiables en direct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Déploiement local + documentation (README, DATASETS)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Démonstration en direct pendant la soutenance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Résultats &amp; conclusions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E1B36"/>
                </a:solidFill>
                <a:latin typeface="Calibri"/>
              </a:rPr>
              <a:t>Les 3 leviers décisifs pour LFI en 2027 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383280" cy="182880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38328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🎯 Mobiliser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  <a:latin typeface="Calibri"/>
              </a:rPr>
              <a:t>Abstention à 29 % dans
les quartiers populaires.
+3 à +5 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383280" cy="182880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38328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🤝 Unir la gauche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  <a:latin typeface="Calibri"/>
              </a:rPr>
              <a:t>~9 pts de gauche hors LFI
en 2022 à reconquérir.
+3 à +6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3383280" cy="182880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38328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👥 Capter les jeunes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9748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  <a:latin typeface="Calibri"/>
              </a:rPr>
              <a:t>30 % des -35 ans votent
LFI mais s'abstiennent.
+1 à +2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104241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En résumé : avec +10,9 pts en 10 ans, LFI a les moyens d'atteindre le 2ᵉ tour. La clé tient en deux mots — union et mobilisation. Et les sondages sous-estiment historiquement LFI (9 % annoncés en 2022, 22 % réels).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Calendrier du projet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5566"/>
                </a:solidFill>
                <a:latin typeface="Calibri"/>
              </a:rPr>
              <a:t>Déroulé sur 6 semaines (à adapter à vos dates réelles).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3657600"/>
              </a:tblGrid>
              <a:tr h="60089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Semaine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Livrable principal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Cadrage : choix du sujet, recherche des sources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Plan de projet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Collecte &amp; nettoyage des données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Fichiers clean (2012/17/22/24)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Analyse exploratoire &amp; visualisations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Notebook d'analyse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Modélisation &amp; scénarios 2027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Notebook de modélisation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Développement de l'application Streamlit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App interactive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Design, documentation &amp; préparation orale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B36"/>
                          </a:solidFill>
                          <a:latin typeface="Calibri"/>
                        </a:rPr>
                        <a:t>App finale + slides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Répartition des tâches (binôme)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5566"/>
                </a:solidFill>
                <a:latin typeface="Calibri"/>
              </a:rPr>
              <a:t>Travail en binôme, avec mise en commun régulière. Répartition indicative — à ajuster.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474720"/>
                <a:gridCol w="3474720"/>
              </a:tblGrid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H. El Idrissi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[Binôme]</a:t>
                      </a:r>
                    </a:p>
                  </a:txBody>
                  <a:tcPr marT="38100" marB="38100" marL="76200" marR="76200">
                    <a:solidFill>
                      <a:srgbClr val="7C3AED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Cadrage / recherche données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Pilote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Appui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Collecte &amp; nettoyage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Construction datasets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Vérification / contrôle qualité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Analyse exploratoire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Croisements socio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Visualisations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Modélisation &amp; scénarios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Modèle + simulateur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Calibrage / hypothèses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Application Streamlit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Développement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Design &amp; storytelling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Documentation &amp; oral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README / datasets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1B36"/>
                          </a:solidFill>
                          <a:latin typeface="Calibri"/>
                        </a:rPr>
                        <a:t>Slides &amp; démo</a:t>
                      </a:r>
                    </a:p>
                  </a:txBody>
                  <a:tcPr marT="38100" marB="38100" marL="76200" marR="76200">
                    <a:solidFill>
                      <a:srgbClr val="F4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1005840"/>
          </a:xfrm>
          <a:prstGeom prst="rect">
            <a:avLst/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Bilan &amp; perspectives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2926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Compétences mobilisées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Collecte &amp; nettoyage (pandas)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Visualisation (Plotly, Matplotlib)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Machine learning (scikit-learn)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Développement web (Streamlit)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Data storytelling &amp; restitution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Travail en binôme &amp; versioning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34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Limites &amp; pistes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Modèle simple (3 points) : tendance, pas une prédiction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Croiser davantage avec données INSEE par commune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Ajouter les législatives 2024 comme signal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E1B36"/>
                </a:solidFill>
                <a:latin typeface="Calibri"/>
              </a:rPr>
              <a:t>•  Déploiement en ligne (Streamlit Cloud)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C4B5FD"/>
                </a:solidFill>
                <a:latin typeface="Calibri"/>
              </a:rPr>
              <a:t>Questions &amp;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AAAAC0"/>
                </a:solidFill>
                <a:latin typeface="Calibri"/>
              </a:rPr>
              <a:t>Présidentielle 2027 — Analyse électorale · B3 DATA &amp;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